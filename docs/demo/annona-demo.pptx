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31503e6a-c0a9-b45e-871f-d25fc5a281d1}">
          <p14:sldIdLst>
            <p14:sldId id="256"/>
          </p14:sldIdLst>
        </p14:section>
        <p14:section name="Product" id="{d57975f8-533c-6fe8-6b07-2aead1b6bc41}">
          <p14:sldIdLst>
            <p14:sldId id="257"/>
            <p14:sldId id="258"/>
          </p14:sldIdLst>
        </p14:section>
        <p14:section name="Live demo" id="{569afb3e-0c10-a618-e032-5b26c5c8c3d9}">
          <p14:sldIdLst>
            <p14:sldId id="259"/>
            <p14:sldId id="260"/>
            <p14:sldId id="261"/>
          </p14:sldIdLst>
        </p14:section>
        <p14:section name="Honesty" id="{ca600705-0c72-5d3f-5e6f-0cba324419be}">
          <p14:sldIdLst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promise. Everything we show today uses synthetic donors, recipients and couriers. 20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The gate in the middle is deterministic code, not the AI.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safety story. No photo or model output ever establishes food safety or allergen freedom.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Rainier Catering (synthetic) -&gt; Eastlake Community Pantry (synthetic). Point out the AI estimate of 18-30 servings versus the donor's 24. Fallback: same photo through web upload. Handoff steps are simulated and labeled. 90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Timers are accelerated and labeled DEMO on screen. The point: deadlines are enforced by the server, and a late or repeated YES cannot create a second assignment. 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scene that earns trust. The tray looks great but the facts are unknown, so the system refuses to dispatch. Optional fourth scene: a previously served buffet tray is rejected. 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docs/handoffs/dev-1.md (Gemini on Vertex, real HEIC), dev-3.md (Photon SP-1, SP-14). BEFORE PRESENTING: confirm the real-Postgres claim race test (T-CO-17) status in PROJECT_STATE and add 'claims are race-safe' only if it passed. Update this slide if a provider ends up in fake mode on demo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claim tracks we genuinely use. Do not add VEYZL or SideShift here unless the evidence exists (see CLAUDE.md sponsor claims). 20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principle, restate it is a prototype with synthetic data,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-card"/>
          <p:cNvSpPr/>
          <p:nvPr/>
        </p:nvSpPr>
        <p:spPr>
          <a:xfrm>
            <a:off x="5852160" y="1097280"/>
            <a:ext cx="2651760" cy="2154156"/>
          </a:xfrm>
          <a:prstGeom prst="roundRect">
            <a:avLst>
              <a:gd name="adj" fmla="val 594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" name="Image 0" descr="Annona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234440"/>
            <a:ext cx="2377440" cy="187983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137160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Annona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377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Surplus food, routed responsibly.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429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Text a photo. A human verifies. A rule gate decides. First valid YES wins.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5262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DubHacks 2026  |  Community Kitchen  |  Synthetic data only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One flow, five steps</a:t>
            </a:r>
            <a:endParaRPr lang="en-US" sz="3000" dirty="0"/>
          </a:p>
        </p:txBody>
      </p:sp>
      <p:sp>
        <p:nvSpPr>
          <p:cNvPr id="3" name="step-icon-bg-1"/>
          <p:cNvSpPr/>
          <p:nvPr/>
        </p:nvSpPr>
        <p:spPr>
          <a:xfrm>
            <a:off x="859536" y="1554480"/>
            <a:ext cx="822960" cy="8229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pic>
        <p:nvPicPr>
          <p:cNvPr id="4" name="Image 0" descr="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83080"/>
            <a:ext cx="365760" cy="365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6060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Photo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175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Donor texts a photo</a:t>
            </a:r>
            <a:endParaRPr lang="en-US" sz="1400" dirty="0"/>
          </a:p>
        </p:txBody>
      </p:sp>
      <p:sp>
        <p:nvSpPr>
          <p:cNvPr id="7" name="step-icon-bg-2"/>
          <p:cNvSpPr/>
          <p:nvPr/>
        </p:nvSpPr>
        <p:spPr>
          <a:xfrm>
            <a:off x="2487168" y="1554480"/>
            <a:ext cx="822960" cy="8229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pic>
        <p:nvPicPr>
          <p:cNvPr id="8" name="Image 1" descr="AI d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768" y="1783080"/>
            <a:ext cx="365760" cy="365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76272" y="26060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AI draft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2176272" y="30175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Gemini guesses, marked uncertain</a:t>
            </a:r>
            <a:endParaRPr lang="en-US" sz="1400" dirty="0"/>
          </a:p>
        </p:txBody>
      </p:sp>
      <p:sp>
        <p:nvSpPr>
          <p:cNvPr id="11" name="step-icon-bg-3"/>
          <p:cNvSpPr/>
          <p:nvPr/>
        </p:nvSpPr>
        <p:spPr>
          <a:xfrm>
            <a:off x="4114800" y="1554480"/>
            <a:ext cx="822960" cy="8229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pic>
        <p:nvPicPr>
          <p:cNvPr id="12" name="Image 2" descr="Verif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78308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03904" y="26060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Verify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3803904" y="30175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Donor confirms on a checklist</a:t>
            </a:r>
            <a:endParaRPr lang="en-US" sz="1400" dirty="0"/>
          </a:p>
        </p:txBody>
      </p:sp>
      <p:sp>
        <p:nvSpPr>
          <p:cNvPr id="15" name="step-icon-bg-4"/>
          <p:cNvSpPr/>
          <p:nvPr/>
        </p:nvSpPr>
        <p:spPr>
          <a:xfrm>
            <a:off x="5742432" y="1554480"/>
            <a:ext cx="822960" cy="822960"/>
          </a:xfrm>
          <a:prstGeom prst="ellipse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pic>
        <p:nvPicPr>
          <p:cNvPr id="16" name="Image 3" descr="Ga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78308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31536" y="26060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Gate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5431536" y="30175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Rules allow or block</a:t>
            </a:r>
            <a:endParaRPr lang="en-US" sz="1400" dirty="0"/>
          </a:p>
        </p:txBody>
      </p:sp>
      <p:sp>
        <p:nvSpPr>
          <p:cNvPr id="19" name="step-icon-bg-5"/>
          <p:cNvSpPr/>
          <p:nvPr/>
        </p:nvSpPr>
        <p:spPr>
          <a:xfrm>
            <a:off x="7370064" y="1554480"/>
            <a:ext cx="822960" cy="8229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pic>
        <p:nvPicPr>
          <p:cNvPr id="20" name="Image 4" descr="Claim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8664" y="1783080"/>
            <a:ext cx="365760" cy="3657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059168" y="26060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Claim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7059168" y="30175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Courier replies YES, one wins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The operator dashboard shows server truth at every step.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describes. Humans verify. Backend enforces.</a:t>
            </a:r>
            <a:endParaRPr lang="en-US" sz="2800" dirty="0"/>
          </a:p>
        </p:txBody>
      </p:sp>
      <p:sp>
        <p:nvSpPr>
          <p:cNvPr id="3" name="principle-card-1"/>
          <p:cNvSpPr/>
          <p:nvPr/>
        </p:nvSpPr>
        <p:spPr>
          <a:xfrm>
            <a:off x="640080" y="1645920"/>
            <a:ext cx="2514600" cy="246888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8745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describes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Vision output is an editable hypothesis. Unclear photos fail closed to manual entry.</a:t>
            </a:r>
            <a:endParaRPr lang="en-US" sz="1400" dirty="0"/>
          </a:p>
        </p:txBody>
      </p:sp>
      <p:sp>
        <p:nvSpPr>
          <p:cNvPr id="6" name="principle-card-2"/>
          <p:cNvSpPr/>
          <p:nvPr/>
        </p:nvSpPr>
        <p:spPr>
          <a:xfrm>
            <a:off x="3337560" y="1645920"/>
            <a:ext cx="2514600" cy="246888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66160" y="18745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Humans verify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42316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Servings, ingredients, all nine major allergens and handling facts start as "unknown" until the donor attests.</a:t>
            </a:r>
            <a:endParaRPr lang="en-US" sz="1400" dirty="0"/>
          </a:p>
        </p:txBody>
      </p:sp>
      <p:sp>
        <p:nvSpPr>
          <p:cNvPr id="9" name="principle-card-3"/>
          <p:cNvSpPr/>
          <p:nvPr/>
        </p:nvSpPr>
        <p:spPr>
          <a:xfrm>
            <a:off x="6035040" y="1645920"/>
            <a:ext cx="2514600" cy="246888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8745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 enforces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42316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deterministic gate returns eligible, needs review or rejected. Unknown never means eligible.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Scene 1: Success</a:t>
            </a:r>
            <a:endParaRPr lang="en-US" sz="3000" dirty="0"/>
          </a:p>
        </p:txBody>
      </p:sp>
      <p:sp>
        <p:nvSpPr>
          <p:cNvPr id="3" name="scene-1-row-1"/>
          <p:cNvSpPr/>
          <p:nvPr/>
        </p:nvSpPr>
        <p:spPr>
          <a:xfrm>
            <a:off x="548640" y="1280160"/>
            <a:ext cx="804672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4" name="scene-1-num-bg-1"/>
          <p:cNvSpPr/>
          <p:nvPr/>
        </p:nvSpPr>
        <p:spPr>
          <a:xfrm>
            <a:off x="685800" y="1344168"/>
            <a:ext cx="365760" cy="3657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44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Donor phone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1280160"/>
            <a:ext cx="5623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Texts a photo of a refrigerated sandwich platter</a:t>
            </a:r>
            <a:endParaRPr lang="en-US" sz="1400" dirty="0"/>
          </a:p>
        </p:txBody>
      </p:sp>
      <p:sp>
        <p:nvSpPr>
          <p:cNvPr id="8" name="scene-1-row-2"/>
          <p:cNvSpPr/>
          <p:nvPr/>
        </p:nvSpPr>
        <p:spPr>
          <a:xfrm>
            <a:off x="548640" y="1865376"/>
            <a:ext cx="804672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9" name="scene-1-num-bg-2"/>
          <p:cNvSpPr/>
          <p:nvPr/>
        </p:nvSpPr>
        <p:spPr>
          <a:xfrm>
            <a:off x="685800" y="1929384"/>
            <a:ext cx="365760" cy="3657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929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18653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Annona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1865376"/>
            <a:ext cx="5623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Replies with an AI guess and a checklist link</a:t>
            </a:r>
            <a:endParaRPr lang="en-US" sz="1400" dirty="0"/>
          </a:p>
        </p:txBody>
      </p:sp>
      <p:sp>
        <p:nvSpPr>
          <p:cNvPr id="13" name="scene-1-row-3"/>
          <p:cNvSpPr/>
          <p:nvPr/>
        </p:nvSpPr>
        <p:spPr>
          <a:xfrm>
            <a:off x="548640" y="2450592"/>
            <a:ext cx="804672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14" name="scene-1-num-bg-3"/>
          <p:cNvSpPr/>
          <p:nvPr/>
        </p:nvSpPr>
        <p:spPr>
          <a:xfrm>
            <a:off x="685800" y="2514600"/>
            <a:ext cx="365760" cy="3657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2450592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Donor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834640" y="2450592"/>
            <a:ext cx="5623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Sets servings to 24, declares allergens and handling</a:t>
            </a:r>
            <a:endParaRPr lang="en-US" sz="1400" dirty="0"/>
          </a:p>
        </p:txBody>
      </p:sp>
      <p:sp>
        <p:nvSpPr>
          <p:cNvPr id="18" name="scene-1-row-4"/>
          <p:cNvSpPr/>
          <p:nvPr/>
        </p:nvSpPr>
        <p:spPr>
          <a:xfrm>
            <a:off x="548640" y="3035808"/>
            <a:ext cx="804672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19" name="scene-1-num-bg-4"/>
          <p:cNvSpPr/>
          <p:nvPr/>
        </p:nvSpPr>
        <p:spPr>
          <a:xfrm>
            <a:off x="685800" y="3099816"/>
            <a:ext cx="365760" cy="3657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3099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03580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Gate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834640" y="3035808"/>
            <a:ext cx="5623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Returns eligible under the prototype policy</a:t>
            </a:r>
            <a:endParaRPr lang="en-US" sz="1400" dirty="0"/>
          </a:p>
        </p:txBody>
      </p:sp>
      <p:sp>
        <p:nvSpPr>
          <p:cNvPr id="23" name="scene-1-row-5"/>
          <p:cNvSpPr/>
          <p:nvPr/>
        </p:nvSpPr>
        <p:spPr>
          <a:xfrm>
            <a:off x="548640" y="3621024"/>
            <a:ext cx="804672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24" name="scene-1-num-bg-5"/>
          <p:cNvSpPr/>
          <p:nvPr/>
        </p:nvSpPr>
        <p:spPr>
          <a:xfrm>
            <a:off x="685800" y="3685032"/>
            <a:ext cx="365760" cy="3657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3621024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Courier A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34640" y="3621024"/>
            <a:ext cx="5623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Gets a timed offer, replies YES with the code</a:t>
            </a:r>
            <a:endParaRPr lang="en-US" sz="1400" dirty="0"/>
          </a:p>
        </p:txBody>
      </p:sp>
      <p:sp>
        <p:nvSpPr>
          <p:cNvPr id="28" name="scene-1-row-6"/>
          <p:cNvSpPr/>
          <p:nvPr/>
        </p:nvSpPr>
        <p:spPr>
          <a:xfrm>
            <a:off x="548640" y="4206240"/>
            <a:ext cx="804672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29" name="scene-1-num-bg-6"/>
          <p:cNvSpPr/>
          <p:nvPr/>
        </p:nvSpPr>
        <p:spPr>
          <a:xfrm>
            <a:off x="685800" y="4270248"/>
            <a:ext cx="365760" cy="3657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234440" y="4206240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Dashboard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34640" y="4206240"/>
            <a:ext cx="5623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Claimed; pickup and delivery are simulated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Scene 2: No response, late reply</a:t>
            </a:r>
            <a:endParaRPr lang="en-US" sz="3000" dirty="0"/>
          </a:p>
        </p:txBody>
      </p:sp>
      <p:sp>
        <p:nvSpPr>
          <p:cNvPr id="3" name="scene-2-row-1"/>
          <p:cNvSpPr/>
          <p:nvPr/>
        </p:nvSpPr>
        <p:spPr>
          <a:xfrm>
            <a:off x="548640" y="1280160"/>
            <a:ext cx="8046720" cy="621792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4" name="scene-2-num-bg-1"/>
          <p:cNvSpPr/>
          <p:nvPr/>
        </p:nvSpPr>
        <p:spPr>
          <a:xfrm>
            <a:off x="685800" y="1408176"/>
            <a:ext cx="365760" cy="365760"/>
          </a:xfrm>
          <a:prstGeom prst="ellipse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08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Courier 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1280160"/>
            <a:ext cx="5623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Ignores a 60-second accelerated offer</a:t>
            </a:r>
            <a:endParaRPr lang="en-US" sz="1400" dirty="0"/>
          </a:p>
        </p:txBody>
      </p:sp>
      <p:sp>
        <p:nvSpPr>
          <p:cNvPr id="8" name="scene-2-row-2"/>
          <p:cNvSpPr/>
          <p:nvPr/>
        </p:nvSpPr>
        <p:spPr>
          <a:xfrm>
            <a:off x="548640" y="1993392"/>
            <a:ext cx="8046720" cy="621792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9" name="scene-2-num-bg-2"/>
          <p:cNvSpPr/>
          <p:nvPr/>
        </p:nvSpPr>
        <p:spPr>
          <a:xfrm>
            <a:off x="685800" y="2121408"/>
            <a:ext cx="365760" cy="365760"/>
          </a:xfrm>
          <a:prstGeom prst="ellipse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1993392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Server tick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1993392"/>
            <a:ext cx="5623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Expires the offer and moves to the next candidate</a:t>
            </a:r>
            <a:endParaRPr lang="en-US" sz="1400" dirty="0"/>
          </a:p>
        </p:txBody>
      </p:sp>
      <p:sp>
        <p:nvSpPr>
          <p:cNvPr id="13" name="scene-2-row-3"/>
          <p:cNvSpPr/>
          <p:nvPr/>
        </p:nvSpPr>
        <p:spPr>
          <a:xfrm>
            <a:off x="548640" y="2706624"/>
            <a:ext cx="8046720" cy="621792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14" name="scene-2-num-bg-3"/>
          <p:cNvSpPr/>
          <p:nvPr/>
        </p:nvSpPr>
        <p:spPr>
          <a:xfrm>
            <a:off x="685800" y="2834640"/>
            <a:ext cx="365760" cy="365760"/>
          </a:xfrm>
          <a:prstGeom prst="ellipse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27066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Courier B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834640" y="2706624"/>
            <a:ext cx="5623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Accepts and wins the claim</a:t>
            </a:r>
            <a:endParaRPr lang="en-US" sz="1400" dirty="0"/>
          </a:p>
        </p:txBody>
      </p:sp>
      <p:sp>
        <p:nvSpPr>
          <p:cNvPr id="18" name="scene-2-row-4"/>
          <p:cNvSpPr/>
          <p:nvPr/>
        </p:nvSpPr>
        <p:spPr>
          <a:xfrm>
            <a:off x="548640" y="3419856"/>
            <a:ext cx="8046720" cy="621792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19" name="scene-2-num-bg-4"/>
          <p:cNvSpPr/>
          <p:nvPr/>
        </p:nvSpPr>
        <p:spPr>
          <a:xfrm>
            <a:off x="685800" y="3547872"/>
            <a:ext cx="365760" cy="365760"/>
          </a:xfrm>
          <a:prstGeom prst="ellipse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3547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419856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Courier 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834640" y="3419856"/>
            <a:ext cx="5623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Replies late and is told no assignment was made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Scene 3: Responsible refusal</a:t>
            </a:r>
            <a:endParaRPr lang="en-US" sz="3000" dirty="0"/>
          </a:p>
        </p:txBody>
      </p:sp>
      <p:sp>
        <p:nvSpPr>
          <p:cNvPr id="3" name="refusal-input-card"/>
          <p:cNvSpPr/>
          <p:nvPr/>
        </p:nvSpPr>
        <p:spPr>
          <a:xfrm>
            <a:off x="548640" y="1371600"/>
            <a:ext cx="3108960" cy="292608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Suspicious pasta tray</a:t>
            </a:r>
            <a:endParaRPr lang="en-US" sz="1800" dirty="0"/>
          </a:p>
        </p:txBody>
      </p:sp>
      <p:pic>
        <p:nvPicPr>
          <p:cNvPr id="5" name="Image 0" descr="war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0312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3000" y="20574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Cooked, then cooled</a:t>
            </a:r>
            <a:endParaRPr lang="en-US" sz="1400" dirty="0"/>
          </a:p>
        </p:txBody>
      </p:sp>
      <p:pic>
        <p:nvPicPr>
          <p:cNvPr id="7" name="Image 1" descr="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560320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5146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Cold holding unknown</a:t>
            </a:r>
            <a:endParaRPr lang="en-US" sz="1400" dirty="0"/>
          </a:p>
        </p:txBody>
      </p:sp>
      <p:pic>
        <p:nvPicPr>
          <p:cNvPr id="9" name="Image 2" descr="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017520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43000" y="29718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temperature log</a:t>
            </a:r>
            <a:endParaRPr lang="en-US" sz="1400" dirty="0"/>
          </a:p>
        </p:txBody>
      </p:sp>
      <p:pic>
        <p:nvPicPr>
          <p:cNvPr id="11" name="Image 3" descr="w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474720"/>
            <a:ext cx="237744" cy="237744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143000" y="34290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Sesame unknown</a:t>
            </a:r>
            <a:endParaRPr lang="en-US" sz="1400" dirty="0"/>
          </a:p>
        </p:txBody>
      </p:sp>
      <p:sp>
        <p:nvSpPr>
          <p:cNvPr id="13" name="refusal-result-card"/>
          <p:cNvSpPr/>
          <p:nvPr/>
        </p:nvSpPr>
        <p:spPr>
          <a:xfrm>
            <a:off x="4023360" y="1371600"/>
            <a:ext cx="4572000" cy="2926080"/>
          </a:xfrm>
          <a:prstGeom prst="roundRect">
            <a:avLst>
              <a:gd name="adj" fmla="val 3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4297680" y="1554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Gate result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4297680" y="18288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Needs review</a:t>
            </a:r>
            <a:endParaRPr lang="en-US" sz="3000" dirty="0"/>
          </a:p>
        </p:txBody>
      </p:sp>
      <p:sp>
        <p:nvSpPr>
          <p:cNvPr id="16" name="Text 10"/>
          <p:cNvSpPr txBox="1"/>
          <p:nvPr/>
        </p:nvSpPr>
        <p:spPr>
          <a:xfrm>
            <a:off x="4297680" y="256032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Four plain-language reasons shown to the operator.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No offer is created.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There is no "dispatch anyway" button.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is real and what is simulated</a:t>
            </a:r>
            <a:endParaRPr lang="en-US" sz="3000" dirty="0"/>
          </a:p>
        </p:txBody>
      </p:sp>
      <p:sp>
        <p:nvSpPr>
          <p:cNvPr id="3" name="real-card"/>
          <p:cNvSpPr/>
          <p:nvPr/>
        </p:nvSpPr>
        <p:spPr>
          <a:xfrm>
            <a:off x="548640" y="1371600"/>
            <a:ext cx="3931920" cy="292608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4" name="simulated-card"/>
          <p:cNvSpPr/>
          <p:nvPr/>
        </p:nvSpPr>
        <p:spPr>
          <a:xfrm>
            <a:off x="4663440" y="1371600"/>
            <a:ext cx="3931920" cy="292608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pic>
        <p:nvPicPr>
          <p:cNvPr id="5" name="Image 0" descr="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55448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calls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3474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Gemini vision on photos, including an iPhone HEIC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Photon iMessage: JOIN round trip and photo intake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Deterministic gate, matching and state machine in code with tests</a:t>
            </a:r>
            <a:endParaRPr lang="en-US" sz="1400" dirty="0"/>
          </a:p>
        </p:txBody>
      </p:sp>
      <p:pic>
        <p:nvPicPr>
          <p:cNvPr id="8" name="Image 1" descr="simulat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92608" cy="29260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303520" y="15544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Simulated, and labeled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4892040" y="2011680"/>
            <a:ext cx="3474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All donors, recipients and couriers are synthetic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Pickup and delivery handoff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Accelerated 60-second offer timers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Annona is a prototype, not food-safety certified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Built for the Community Kitchen track</a:t>
            </a:r>
            <a:endParaRPr lang="en-US" sz="3000" dirty="0"/>
          </a:p>
        </p:txBody>
      </p:sp>
      <p:sp>
        <p:nvSpPr>
          <p:cNvPr id="3" name="track-row-1"/>
          <p:cNvSpPr/>
          <p:nvPr/>
        </p:nvSpPr>
        <p:spPr>
          <a:xfrm>
            <a:off x="548640" y="1371600"/>
            <a:ext cx="804672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4" name="track-icon-bg-1"/>
          <p:cNvSpPr/>
          <p:nvPr/>
        </p:nvSpPr>
        <p:spPr>
          <a:xfrm>
            <a:off x="777240" y="1554480"/>
            <a:ext cx="457200" cy="45720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pic>
        <p:nvPicPr>
          <p:cNvPr id="5" name="Image 0" descr="Community Kitch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91640"/>
            <a:ext cx="182880" cy="1828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48132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Kitchen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48132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Food-rescue coordination with safety by design</a:t>
            </a:r>
            <a:endParaRPr lang="en-US" sz="1400" dirty="0"/>
          </a:p>
        </p:txBody>
      </p:sp>
      <p:sp>
        <p:nvSpPr>
          <p:cNvPr id="8" name="track-row-2"/>
          <p:cNvSpPr/>
          <p:nvPr/>
        </p:nvSpPr>
        <p:spPr>
          <a:xfrm>
            <a:off x="548640" y="2331720"/>
            <a:ext cx="804672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9" name="track-icon-bg-2"/>
          <p:cNvSpPr/>
          <p:nvPr/>
        </p:nvSpPr>
        <p:spPr>
          <a:xfrm>
            <a:off x="777240" y="2514600"/>
            <a:ext cx="457200" cy="45720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pic>
        <p:nvPicPr>
          <p:cNvPr id="10" name="Image 1" descr="Pho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651760"/>
            <a:ext cx="182880" cy="1828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244144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Photon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931920" y="244144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Time-limited offers and claims over iMessage</a:t>
            </a:r>
            <a:endParaRPr lang="en-US" sz="1400" dirty="0"/>
          </a:p>
        </p:txBody>
      </p:sp>
      <p:sp>
        <p:nvSpPr>
          <p:cNvPr id="13" name="track-row-3"/>
          <p:cNvSpPr/>
          <p:nvPr/>
        </p:nvSpPr>
        <p:spPr>
          <a:xfrm>
            <a:off x="548640" y="3291840"/>
            <a:ext cx="804672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14" name="track-icon-bg-3"/>
          <p:cNvSpPr/>
          <p:nvPr/>
        </p:nvSpPr>
        <p:spPr>
          <a:xfrm>
            <a:off x="777240" y="3474720"/>
            <a:ext cx="457200" cy="45720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pic>
        <p:nvPicPr>
          <p:cNvPr id="15" name="Image 2" descr="Gemini AP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611880"/>
            <a:ext cx="182880" cy="1828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54480" y="340156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API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931920" y="340156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Photo to an uncertain, editable draft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-card"/>
          <p:cNvSpPr/>
          <p:nvPr/>
        </p:nvSpPr>
        <p:spPr>
          <a:xfrm>
            <a:off x="640080" y="365760"/>
            <a:ext cx="1554480" cy="1286540"/>
          </a:xfrm>
          <a:prstGeom prst="roundRect">
            <a:avLst>
              <a:gd name="adj" fmla="val 99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" name="Image 0" descr="Annona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02920"/>
            <a:ext cx="1280160" cy="10122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182880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 when it is safe. Stopped when it is not.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2918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Next: partner and food-safety review before any real deployment.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114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Thank you. Questions?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nona">
  <a:themeElements>
    <a:clrScheme name="Annona">
      <a:dk1>
        <a:srgbClr val="17301F"/>
      </a:dk1>
      <a:lt1>
        <a:srgbClr val="FFFFFF"/>
      </a:lt1>
      <a:dk2>
        <a:srgbClr val="24523A"/>
      </a:dk2>
      <a:lt2>
        <a:srgbClr val="EEF4EC"/>
      </a:lt2>
      <a:accent1>
        <a:srgbClr val="2F7D4F"/>
      </a:accent1>
      <a:accent2>
        <a:srgbClr val="E8833A"/>
      </a:accent2>
      <a:accent3>
        <a:srgbClr val="8DBF7A"/>
      </a:accent3>
      <a:accent4>
        <a:srgbClr val="B5413B"/>
      </a:accent4>
      <a:accent5>
        <a:srgbClr val="5E7A68"/>
      </a:accent5>
      <a:accent6>
        <a:srgbClr val="F3C969"/>
      </a:accent6>
      <a:hlink>
        <a:srgbClr val="2F7D4F"/>
      </a:hlink>
      <a:folHlink>
        <a:srgbClr val="5E7A68"/>
      </a:folHlink>
    </a:clrScheme>
    <a:fontScheme name="Annon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Annona live demo</dc:title>
  <dc:subject>PptxGenJS Presentation</dc:subject>
  <dc:creator>Annona team</dc:creator>
  <cp:lastModifiedBy>Annona team</cp:lastModifiedBy>
  <cp:revision>1</cp:revision>
  <dcterms:created xsi:type="dcterms:W3CDTF">2026-10-18T06:51:56Z</dcterms:created>
  <dcterms:modified xsi:type="dcterms:W3CDTF">2026-10-18T06:51:56Z</dcterms:modified>
</cp:coreProperties>
</file>
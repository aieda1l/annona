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" id="{7595fe85-4aa4-86b6-db16-da079a707843}">
          <p14:sldIdLst>
            <p14:sldId id="256"/>
          </p14:sldIdLst>
        </p14:section>
        <p14:section name="Why" id="{50440ac2-45d8-d935-94a3-2e92e34f94fc}">
          <p14:sldIdLst>
            <p14:sldId id="257"/>
          </p14:sldIdLst>
        </p14:section>
        <p14:section name="Product" id="{cb55f454-6f50-5736-8b95-60c771376761}">
          <p14:sldIdLst>
            <p14:sldId id="258"/>
            <p14:sldId id="259"/>
          </p14:sldIdLst>
        </p14:section>
        <p14:section name="Live demo" id="{67e9c33d-fa67-f0e5-ea25-141e8c0d1198}">
          <p14:sldIdLst>
            <p14:sldId id="260"/>
            <p14:sldId id="261"/>
            <p14:sldId id="262"/>
          </p14:sldIdLst>
        </p14:section>
        <p14:section name="Honesty" id="{96a922af-6282-b984-8d65-6691ffcc983d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promise. Everything we show today uses synthetic donors, recipients and couriers. 20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as small, time-boxed, last-minute lots. Be careful: say 'may miss', this is an assumption we have not validated.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The gate in the middle is deterministic code, not the AI.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safety story. No photo or model output ever establishes food safety or allergen freedom.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Rainier Catering (synthetic) -&gt; Eastlake Community Pantry (synthetic). Point out the AI estimate of 18-30 servings versus the donor's 24. Fallback: same photo through web upload. Handoff steps are simulated and labeled. 90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Timers are accelerated and labeled DEMO on screen. The point: deadlines are enforced by the server, and a late or repeated YES cannot create a second assignment. 45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scene that earns trust. The tray looks great but the facts are unknown, so the system refuses to dispatch. Optional fourth scene: a previously served buffet tray is rejected. 45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docs/handoffs/dev-1.md (Gemini on Vertex, real HEIC), dev-3.md (Photon SP-1, SP-14). BEFORE PRESENTING: confirm the real-Postgres claim race test (T-CO-17) status in PROJECT_STATE and add 'claims are race-safe' only if it passed. Update this slide if a provider ends up in fake mode on demo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claim tracks we genuinely use. Do not add VEYZL or SideShift here unless the evidence exists (see CLAUDE.md sponsor claims). 20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principle, restate it is a prototype with synthetic data,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nnona leaf 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51560"/>
            <a:ext cx="6400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7830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Annona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788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3"/>
                </a:solidFill>
              </a:rPr>
              <a:t>Surplus food, routed responsibly.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4290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Text a photo. A human verifies. A rule gate decides. First valid YES wins.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26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DubHacks 2026  |  Community Kitchen  |  Synthetic data only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Small lots fall through the cracks</a:t>
            </a:r>
            <a:endParaRPr lang="en-US" sz="3000" dirty="0"/>
          </a:p>
        </p:txBody>
      </p:sp>
      <p:sp>
        <p:nvSpPr>
          <p:cNvPr id="3" name="problem-card-1"/>
          <p:cNvSpPr/>
          <p:nvPr/>
        </p:nvSpPr>
        <p:spPr>
          <a:xfrm>
            <a:off x="548640" y="146304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301F">
                <a:alpha val="12000"/>
              </a:srgbClr>
            </a:outerShdw>
          </a:effectLst>
        </p:spPr>
      </p:sp>
      <p:sp>
        <p:nvSpPr>
          <p:cNvPr id="4" name="problem-icon-bg-1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pic>
        <p:nvPicPr>
          <p:cNvPr id="5" name="Image 0" descr="Minutes, not day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56232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468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Minutes, not days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97180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licensed kitchen ends an event with refrigerated trays and a short handover window. Scheduled rescue routes may miss last-minute lots.</a:t>
            </a:r>
            <a:endParaRPr lang="en-US" sz="1400" dirty="0"/>
          </a:p>
        </p:txBody>
      </p:sp>
      <p:sp>
        <p:nvSpPr>
          <p:cNvPr id="8" name="problem-card-2"/>
          <p:cNvSpPr/>
          <p:nvPr/>
        </p:nvSpPr>
        <p:spPr>
          <a:xfrm>
            <a:off x="3291840" y="146304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301F">
                <a:alpha val="12000"/>
              </a:srgbClr>
            </a:outerShdw>
          </a:effectLst>
        </p:spPr>
      </p:sp>
      <p:sp>
        <p:nvSpPr>
          <p:cNvPr id="9" name="problem-icon-bg-2"/>
          <p:cNvSpPr/>
          <p:nvPr/>
        </p:nvSpPr>
        <p:spPr>
          <a:xfrm>
            <a:off x="3520440" y="1691640"/>
            <a:ext cx="640080" cy="640080"/>
          </a:xfrm>
          <a:prstGeom prst="ellipse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pic>
        <p:nvPicPr>
          <p:cNvPr id="10" name="Image 1" descr="A photo is not a fac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185623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2468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photo is not a fact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97180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image cannot show ingredients, hidden allergens, cross-contact or how the food was held.</a:t>
            </a:r>
            <a:endParaRPr lang="en-US" sz="1400" dirty="0"/>
          </a:p>
        </p:txBody>
      </p:sp>
      <p:sp>
        <p:nvSpPr>
          <p:cNvPr id="13" name="problem-card-3"/>
          <p:cNvSpPr/>
          <p:nvPr/>
        </p:nvSpPr>
        <p:spPr>
          <a:xfrm>
            <a:off x="6035040" y="146304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301F">
                <a:alpha val="12000"/>
              </a:srgbClr>
            </a:outerShdw>
          </a:effectLst>
        </p:spPr>
      </p:sp>
      <p:sp>
        <p:nvSpPr>
          <p:cNvPr id="14" name="problem-icon-bg-3"/>
          <p:cNvSpPr/>
          <p:nvPr/>
        </p:nvSpPr>
        <p:spPr>
          <a:xfrm>
            <a:off x="6263640" y="1691640"/>
            <a:ext cx="640080" cy="640080"/>
          </a:xfrm>
          <a:prstGeom prst="ellipse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pic>
        <p:nvPicPr>
          <p:cNvPr id="15" name="Image 2" descr="&quot;Keep offering&quot; breaks dow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185623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63640" y="2468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"Keep offering" breaks down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297180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endless offer loop can hand food over after the kitchen's cutoff or to someone who cannot receive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One flow, five steps</a:t>
            </a:r>
            <a:endParaRPr lang="en-US" sz="3000" dirty="0"/>
          </a:p>
        </p:txBody>
      </p:sp>
      <p:sp>
        <p:nvSpPr>
          <p:cNvPr id="3" name="step-icon-bg-1"/>
          <p:cNvSpPr/>
          <p:nvPr/>
        </p:nvSpPr>
        <p:spPr>
          <a:xfrm>
            <a:off x="859536" y="1554480"/>
            <a:ext cx="822960" cy="822960"/>
          </a:xfrm>
          <a:prstGeom prst="ellipse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pic>
        <p:nvPicPr>
          <p:cNvPr id="4" name="Image 0" descr="Ph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17830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6060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Photo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1752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Donor texts a photo</a:t>
            </a:r>
            <a:endParaRPr lang="en-US" sz="1400" dirty="0"/>
          </a:p>
        </p:txBody>
      </p:sp>
      <p:sp>
        <p:nvSpPr>
          <p:cNvPr id="7" name="step-icon-bg-2"/>
          <p:cNvSpPr/>
          <p:nvPr/>
        </p:nvSpPr>
        <p:spPr>
          <a:xfrm>
            <a:off x="2487168" y="1554480"/>
            <a:ext cx="822960" cy="822960"/>
          </a:xfrm>
          <a:prstGeom prst="ellipse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pic>
        <p:nvPicPr>
          <p:cNvPr id="8" name="Image 1" descr="AI dra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768" y="178308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176272" y="26060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AI draft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2176272" y="301752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Gemini guesses, marked uncertain</a:t>
            </a:r>
            <a:endParaRPr lang="en-US" sz="1400" dirty="0"/>
          </a:p>
        </p:txBody>
      </p:sp>
      <p:sp>
        <p:nvSpPr>
          <p:cNvPr id="11" name="step-icon-bg-3"/>
          <p:cNvSpPr/>
          <p:nvPr/>
        </p:nvSpPr>
        <p:spPr>
          <a:xfrm>
            <a:off x="4114800" y="1554480"/>
            <a:ext cx="822960" cy="822960"/>
          </a:xfrm>
          <a:prstGeom prst="ellipse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pic>
        <p:nvPicPr>
          <p:cNvPr id="12" name="Image 2" descr="Verif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78308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803904" y="26060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Verify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3803904" y="301752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Donor confirms on a checklist</a:t>
            </a:r>
            <a:endParaRPr lang="en-US" sz="1400" dirty="0"/>
          </a:p>
        </p:txBody>
      </p:sp>
      <p:sp>
        <p:nvSpPr>
          <p:cNvPr id="15" name="step-icon-bg-4"/>
          <p:cNvSpPr/>
          <p:nvPr/>
        </p:nvSpPr>
        <p:spPr>
          <a:xfrm>
            <a:off x="5742432" y="1554480"/>
            <a:ext cx="822960" cy="82296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pic>
        <p:nvPicPr>
          <p:cNvPr id="16" name="Image 3" descr="Ga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178308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31536" y="26060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Gate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5431536" y="301752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Rules allow or block</a:t>
            </a:r>
            <a:endParaRPr lang="en-US" sz="1400" dirty="0"/>
          </a:p>
        </p:txBody>
      </p:sp>
      <p:sp>
        <p:nvSpPr>
          <p:cNvPr id="19" name="step-icon-bg-5"/>
          <p:cNvSpPr/>
          <p:nvPr/>
        </p:nvSpPr>
        <p:spPr>
          <a:xfrm>
            <a:off x="7370064" y="1554480"/>
            <a:ext cx="822960" cy="822960"/>
          </a:xfrm>
          <a:prstGeom prst="ellipse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pic>
        <p:nvPicPr>
          <p:cNvPr id="20" name="Image 4" descr="Claim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8664" y="178308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059168" y="26060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 Claim</a:t>
            </a:r>
            <a:endParaRPr lang="en-US" sz="1800" dirty="0"/>
          </a:p>
        </p:txBody>
      </p:sp>
      <p:sp>
        <p:nvSpPr>
          <p:cNvPr id="22" name="Text 15"/>
          <p:cNvSpPr txBox="1"/>
          <p:nvPr/>
        </p:nvSpPr>
        <p:spPr>
          <a:xfrm>
            <a:off x="7059168" y="301752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Courier replies YES, one wins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The operator dashboard shows server truth at every step.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describes. Humans verify. Backend enforces.</a:t>
            </a:r>
            <a:endParaRPr lang="en-US" sz="2800" dirty="0"/>
          </a:p>
        </p:txBody>
      </p:sp>
      <p:sp>
        <p:nvSpPr>
          <p:cNvPr id="3" name="principle-card-1"/>
          <p:cNvSpPr/>
          <p:nvPr/>
        </p:nvSpPr>
        <p:spPr>
          <a:xfrm>
            <a:off x="640080" y="1645920"/>
            <a:ext cx="2514600" cy="246888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874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describes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2316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Vision output is an editable hypothesis. Unclear photos fail closed to manual entry.</a:t>
            </a:r>
            <a:endParaRPr lang="en-US" sz="1400" dirty="0"/>
          </a:p>
        </p:txBody>
      </p:sp>
      <p:sp>
        <p:nvSpPr>
          <p:cNvPr id="6" name="principle-card-2"/>
          <p:cNvSpPr/>
          <p:nvPr/>
        </p:nvSpPr>
        <p:spPr>
          <a:xfrm>
            <a:off x="3337560" y="1645920"/>
            <a:ext cx="2514600" cy="246888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1874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Humans verify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42316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Servings, ingredients, all nine major allergens and handling facts start as "unknown" until the donor attests.</a:t>
            </a:r>
            <a:endParaRPr lang="en-US" sz="1400" dirty="0"/>
          </a:p>
        </p:txBody>
      </p:sp>
      <p:sp>
        <p:nvSpPr>
          <p:cNvPr id="9" name="principle-card-3"/>
          <p:cNvSpPr/>
          <p:nvPr/>
        </p:nvSpPr>
        <p:spPr>
          <a:xfrm>
            <a:off x="6035040" y="1645920"/>
            <a:ext cx="2514600" cy="246888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874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enforces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42316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 deterministic gate returns eligible, needs review or rejected. Unknown never means eligible.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Scene 1: Success</a:t>
            </a:r>
            <a:endParaRPr lang="en-US" sz="3000" dirty="0"/>
          </a:p>
        </p:txBody>
      </p:sp>
      <p:sp>
        <p:nvSpPr>
          <p:cNvPr id="3" name="scene-1-row-1"/>
          <p:cNvSpPr/>
          <p:nvPr/>
        </p:nvSpPr>
        <p:spPr>
          <a:xfrm>
            <a:off x="548640" y="1371600"/>
            <a:ext cx="8046720" cy="603504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301F">
                <a:alpha val="12000"/>
              </a:srgbClr>
            </a:outerShdw>
          </a:effectLst>
        </p:spPr>
      </p:sp>
      <p:sp>
        <p:nvSpPr>
          <p:cNvPr id="4" name="scene-1-num-bg-1"/>
          <p:cNvSpPr/>
          <p:nvPr/>
        </p:nvSpPr>
        <p:spPr>
          <a:xfrm>
            <a:off x="685800" y="1490472"/>
            <a:ext cx="365760" cy="365760"/>
          </a:xfrm>
          <a:prstGeom prst="ellipse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4447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Donor phone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444752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Texts a photo of a refrigerated sandwich and wrap platter</a:t>
            </a:r>
            <a:endParaRPr lang="en-US" sz="1400" dirty="0"/>
          </a:p>
        </p:txBody>
      </p:sp>
      <p:sp>
        <p:nvSpPr>
          <p:cNvPr id="8" name="scene-1-row-2"/>
          <p:cNvSpPr/>
          <p:nvPr/>
        </p:nvSpPr>
        <p:spPr>
          <a:xfrm>
            <a:off x="548640" y="2084832"/>
            <a:ext cx="8046720" cy="603504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301F">
                <a:alpha val="12000"/>
              </a:srgbClr>
            </a:outerShdw>
          </a:effectLst>
        </p:spPr>
      </p:sp>
      <p:sp>
        <p:nvSpPr>
          <p:cNvPr id="9" name="scene-1-num-bg-2"/>
          <p:cNvSpPr/>
          <p:nvPr/>
        </p:nvSpPr>
        <p:spPr>
          <a:xfrm>
            <a:off x="685800" y="2203704"/>
            <a:ext cx="365760" cy="365760"/>
          </a:xfrm>
          <a:prstGeom prst="ellipse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203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15798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Annona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21579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Replies with an AI guess and a checklist link</a:t>
            </a:r>
            <a:endParaRPr lang="en-US" sz="1400" dirty="0"/>
          </a:p>
        </p:txBody>
      </p:sp>
      <p:sp>
        <p:nvSpPr>
          <p:cNvPr id="13" name="scene-1-row-3"/>
          <p:cNvSpPr/>
          <p:nvPr/>
        </p:nvSpPr>
        <p:spPr>
          <a:xfrm>
            <a:off x="548640" y="2798064"/>
            <a:ext cx="8046720" cy="603504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301F">
                <a:alpha val="12000"/>
              </a:srgbClr>
            </a:outerShdw>
          </a:effectLst>
        </p:spPr>
      </p:sp>
      <p:sp>
        <p:nvSpPr>
          <p:cNvPr id="14" name="scene-1-num-bg-3"/>
          <p:cNvSpPr/>
          <p:nvPr/>
        </p:nvSpPr>
        <p:spPr>
          <a:xfrm>
            <a:off x="685800" y="2916936"/>
            <a:ext cx="365760" cy="365760"/>
          </a:xfrm>
          <a:prstGeom prst="ellipse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916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287121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Donor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2871216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Corrects servings to 24, declares all nine allergens, attests handling</a:t>
            </a:r>
            <a:endParaRPr lang="en-US" sz="1400" dirty="0"/>
          </a:p>
        </p:txBody>
      </p:sp>
      <p:sp>
        <p:nvSpPr>
          <p:cNvPr id="18" name="scene-1-row-4"/>
          <p:cNvSpPr/>
          <p:nvPr/>
        </p:nvSpPr>
        <p:spPr>
          <a:xfrm>
            <a:off x="548640" y="3511296"/>
            <a:ext cx="8046720" cy="603504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301F">
                <a:alpha val="12000"/>
              </a:srgbClr>
            </a:outerShdw>
          </a:effectLst>
        </p:spPr>
      </p:sp>
      <p:sp>
        <p:nvSpPr>
          <p:cNvPr id="19" name="scene-1-num-bg-4"/>
          <p:cNvSpPr/>
          <p:nvPr/>
        </p:nvSpPr>
        <p:spPr>
          <a:xfrm>
            <a:off x="685800" y="3630168"/>
            <a:ext cx="365760" cy="365760"/>
          </a:xfrm>
          <a:prstGeom prst="ellipse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630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5844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Gate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017520" y="3584448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Returns eligible under the prototype policy</a:t>
            </a:r>
            <a:endParaRPr lang="en-US" sz="1400" dirty="0"/>
          </a:p>
        </p:txBody>
      </p:sp>
      <p:sp>
        <p:nvSpPr>
          <p:cNvPr id="23" name="scene-1-row-5"/>
          <p:cNvSpPr/>
          <p:nvPr/>
        </p:nvSpPr>
        <p:spPr>
          <a:xfrm>
            <a:off x="548640" y="4224528"/>
            <a:ext cx="8046720" cy="603504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301F">
                <a:alpha val="12000"/>
              </a:srgbClr>
            </a:outerShdw>
          </a:effectLst>
        </p:spPr>
      </p:sp>
      <p:sp>
        <p:nvSpPr>
          <p:cNvPr id="24" name="scene-1-num-bg-5"/>
          <p:cNvSpPr/>
          <p:nvPr/>
        </p:nvSpPr>
        <p:spPr>
          <a:xfrm>
            <a:off x="685800" y="4343400"/>
            <a:ext cx="365760" cy="365760"/>
          </a:xfrm>
          <a:prstGeom prst="ellipse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4297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Courier A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017520" y="429768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Gets a time-limited offer, replies YES with the code</a:t>
            </a:r>
            <a:endParaRPr lang="en-US" sz="1400" dirty="0"/>
          </a:p>
        </p:txBody>
      </p:sp>
      <p:sp>
        <p:nvSpPr>
          <p:cNvPr id="28" name="scene-1-row-6"/>
          <p:cNvSpPr/>
          <p:nvPr/>
        </p:nvSpPr>
        <p:spPr>
          <a:xfrm>
            <a:off x="548640" y="4937760"/>
            <a:ext cx="8046720" cy="603504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301F">
                <a:alpha val="12000"/>
              </a:srgbClr>
            </a:outerShdw>
          </a:effectLst>
        </p:spPr>
      </p:sp>
      <p:sp>
        <p:nvSpPr>
          <p:cNvPr id="29" name="scene-1-num-bg-6"/>
          <p:cNvSpPr/>
          <p:nvPr/>
        </p:nvSpPr>
        <p:spPr>
          <a:xfrm>
            <a:off x="685800" y="5056632"/>
            <a:ext cx="365760" cy="365760"/>
          </a:xfrm>
          <a:prstGeom prst="ellipse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5056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234440" y="50109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Dashboard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3017520" y="5010912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Claimed. Operator marks simulated pickup and delivery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Scene 2: No response, late reply</a:t>
            </a:r>
            <a:endParaRPr lang="en-US" sz="3000" dirty="0"/>
          </a:p>
        </p:txBody>
      </p:sp>
      <p:sp>
        <p:nvSpPr>
          <p:cNvPr id="3" name="scene-2-row-1"/>
          <p:cNvSpPr/>
          <p:nvPr/>
        </p:nvSpPr>
        <p:spPr>
          <a:xfrm>
            <a:off x="548640" y="1371600"/>
            <a:ext cx="8046720" cy="603504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301F">
                <a:alpha val="12000"/>
              </a:srgbClr>
            </a:outerShdw>
          </a:effectLst>
        </p:spPr>
      </p:sp>
      <p:sp>
        <p:nvSpPr>
          <p:cNvPr id="4" name="scene-2-num-bg-1"/>
          <p:cNvSpPr/>
          <p:nvPr/>
        </p:nvSpPr>
        <p:spPr>
          <a:xfrm>
            <a:off x="685800" y="1490472"/>
            <a:ext cx="365760" cy="36576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4447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Courier 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444752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Ignores a 60-second accelerated offer</a:t>
            </a:r>
            <a:endParaRPr lang="en-US" sz="1400" dirty="0"/>
          </a:p>
        </p:txBody>
      </p:sp>
      <p:sp>
        <p:nvSpPr>
          <p:cNvPr id="8" name="scene-2-row-2"/>
          <p:cNvSpPr/>
          <p:nvPr/>
        </p:nvSpPr>
        <p:spPr>
          <a:xfrm>
            <a:off x="548640" y="2084832"/>
            <a:ext cx="8046720" cy="603504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301F">
                <a:alpha val="12000"/>
              </a:srgbClr>
            </a:outerShdw>
          </a:effectLst>
        </p:spPr>
      </p:sp>
      <p:sp>
        <p:nvSpPr>
          <p:cNvPr id="9" name="scene-2-num-bg-2"/>
          <p:cNvSpPr/>
          <p:nvPr/>
        </p:nvSpPr>
        <p:spPr>
          <a:xfrm>
            <a:off x="685800" y="2203704"/>
            <a:ext cx="365760" cy="36576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203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15798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Server tick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21579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Expires the offer and moves to the next candidate</a:t>
            </a:r>
            <a:endParaRPr lang="en-US" sz="1400" dirty="0"/>
          </a:p>
        </p:txBody>
      </p:sp>
      <p:sp>
        <p:nvSpPr>
          <p:cNvPr id="13" name="scene-2-row-3"/>
          <p:cNvSpPr/>
          <p:nvPr/>
        </p:nvSpPr>
        <p:spPr>
          <a:xfrm>
            <a:off x="548640" y="2798064"/>
            <a:ext cx="8046720" cy="603504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301F">
                <a:alpha val="12000"/>
              </a:srgbClr>
            </a:outerShdw>
          </a:effectLst>
        </p:spPr>
      </p:sp>
      <p:sp>
        <p:nvSpPr>
          <p:cNvPr id="14" name="scene-2-num-bg-3"/>
          <p:cNvSpPr/>
          <p:nvPr/>
        </p:nvSpPr>
        <p:spPr>
          <a:xfrm>
            <a:off x="685800" y="2916936"/>
            <a:ext cx="365760" cy="36576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916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287121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Courier B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2871216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Accepts and wins the claim</a:t>
            </a:r>
            <a:endParaRPr lang="en-US" sz="1400" dirty="0"/>
          </a:p>
        </p:txBody>
      </p:sp>
      <p:sp>
        <p:nvSpPr>
          <p:cNvPr id="18" name="scene-2-row-4"/>
          <p:cNvSpPr/>
          <p:nvPr/>
        </p:nvSpPr>
        <p:spPr>
          <a:xfrm>
            <a:off x="548640" y="3511296"/>
            <a:ext cx="8046720" cy="603504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301F">
                <a:alpha val="12000"/>
              </a:srgbClr>
            </a:outerShdw>
          </a:effectLst>
        </p:spPr>
      </p:sp>
      <p:sp>
        <p:nvSpPr>
          <p:cNvPr id="19" name="scene-2-num-bg-4"/>
          <p:cNvSpPr/>
          <p:nvPr/>
        </p:nvSpPr>
        <p:spPr>
          <a:xfrm>
            <a:off x="685800" y="3630168"/>
            <a:ext cx="365760" cy="36576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630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5844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Courier 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017520" y="3584448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Replies late and is told no assignment was made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Scene 3: Responsible refusal</a:t>
            </a:r>
            <a:endParaRPr lang="en-US" sz="3000" dirty="0"/>
          </a:p>
        </p:txBody>
      </p:sp>
      <p:sp>
        <p:nvSpPr>
          <p:cNvPr id="3" name="refusal-input-card"/>
          <p:cNvSpPr/>
          <p:nvPr/>
        </p:nvSpPr>
        <p:spPr>
          <a:xfrm>
            <a:off x="548640" y="1371600"/>
            <a:ext cx="3108960" cy="2926080"/>
          </a:xfrm>
          <a:prstGeom prst="roundRect">
            <a:avLst>
              <a:gd name="adj" fmla="val 375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301F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Attractive pasta tray</a:t>
            </a:r>
            <a:endParaRPr lang="en-US" sz="1800" dirty="0"/>
          </a:p>
        </p:txBody>
      </p:sp>
      <p:pic>
        <p:nvPicPr>
          <p:cNvPr id="5" name="Image 0" descr="warn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03120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20574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Cooked, then cooled</a:t>
            </a:r>
            <a:endParaRPr lang="en-US" sz="1400" dirty="0"/>
          </a:p>
        </p:txBody>
      </p:sp>
      <p:pic>
        <p:nvPicPr>
          <p:cNvPr id="7" name="Image 1" descr="warn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560320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25146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Cold holding unknown</a:t>
            </a:r>
            <a:endParaRPr lang="en-US" sz="1400" dirty="0"/>
          </a:p>
        </p:txBody>
      </p:sp>
      <p:pic>
        <p:nvPicPr>
          <p:cNvPr id="9" name="Image 2" descr="warn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17520"/>
            <a:ext cx="237744" cy="2377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43000" y="29718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temperature log</a:t>
            </a:r>
            <a:endParaRPr lang="en-US" sz="1400" dirty="0"/>
          </a:p>
        </p:txBody>
      </p:sp>
      <p:pic>
        <p:nvPicPr>
          <p:cNvPr id="11" name="Image 3" descr="warn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474720"/>
            <a:ext cx="237744" cy="23774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143000" y="34290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Sesame unknown</a:t>
            </a:r>
            <a:endParaRPr lang="en-US" sz="1400" dirty="0"/>
          </a:p>
        </p:txBody>
      </p:sp>
      <p:sp>
        <p:nvSpPr>
          <p:cNvPr id="13" name="refusal-result-card"/>
          <p:cNvSpPr/>
          <p:nvPr/>
        </p:nvSpPr>
        <p:spPr>
          <a:xfrm>
            <a:off x="4023360" y="1371600"/>
            <a:ext cx="4572000" cy="2926080"/>
          </a:xfrm>
          <a:prstGeom prst="roundRect">
            <a:avLst>
              <a:gd name="adj" fmla="val 37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4297680" y="1554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Gate result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4297680" y="18288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 review</a:t>
            </a:r>
            <a:endParaRPr lang="en-US" sz="3000" dirty="0"/>
          </a:p>
        </p:txBody>
      </p:sp>
      <p:sp>
        <p:nvSpPr>
          <p:cNvPr id="16" name="Text 10"/>
          <p:cNvSpPr txBox="1"/>
          <p:nvPr/>
        </p:nvSpPr>
        <p:spPr>
          <a:xfrm>
            <a:off x="4297680" y="256032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Four plain-language reasons shown to the operator.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No offer is created.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There is no "dispatch anyway" button.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is real and what is simulated</a:t>
            </a:r>
            <a:endParaRPr lang="en-US" sz="3000" dirty="0"/>
          </a:p>
        </p:txBody>
      </p:sp>
      <p:sp>
        <p:nvSpPr>
          <p:cNvPr id="3" name="real-card"/>
          <p:cNvSpPr/>
          <p:nvPr/>
        </p:nvSpPr>
        <p:spPr>
          <a:xfrm>
            <a:off x="548640" y="1371600"/>
            <a:ext cx="3931920" cy="2926080"/>
          </a:xfrm>
          <a:prstGeom prst="roundRect">
            <a:avLst>
              <a:gd name="adj" fmla="val 375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301F">
                <a:alpha val="12000"/>
              </a:srgbClr>
            </a:outerShdw>
          </a:effectLst>
        </p:spPr>
      </p:sp>
      <p:sp>
        <p:nvSpPr>
          <p:cNvPr id="4" name="simulated-card"/>
          <p:cNvSpPr/>
          <p:nvPr/>
        </p:nvSpPr>
        <p:spPr>
          <a:xfrm>
            <a:off x="4663440" y="1371600"/>
            <a:ext cx="3931920" cy="2926080"/>
          </a:xfrm>
          <a:prstGeom prst="roundRect">
            <a:avLst>
              <a:gd name="adj" fmla="val 375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301F">
                <a:alpha val="12000"/>
              </a:srgbClr>
            </a:outerShdw>
          </a:effectLst>
        </p:spPr>
      </p:sp>
      <p:pic>
        <p:nvPicPr>
          <p:cNvPr id="5" name="Image 0" descr="r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5544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calls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1168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Gemini vision on photos, including an iPhone HEIC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Photon iMessage: JOIN round trip and photo intake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Deterministic gate, matching and state machine in code with tests</a:t>
            </a:r>
            <a:endParaRPr lang="en-US" sz="1400" dirty="0"/>
          </a:p>
        </p:txBody>
      </p:sp>
      <p:pic>
        <p:nvPicPr>
          <p:cNvPr id="8" name="Image 1" descr="simulat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54480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303520" y="15544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Simulated, and labeled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4892040" y="201168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All donors, recipients and couriers are synthetic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Pickup and delivery handoff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Accelerated 60-second offer timers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Annona is a prototype, not food-safety certified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Built for the Community Kitchen track</a:t>
            </a:r>
            <a:endParaRPr lang="en-US" sz="3000" dirty="0"/>
          </a:p>
        </p:txBody>
      </p:sp>
      <p:sp>
        <p:nvSpPr>
          <p:cNvPr id="3" name="track-row-1"/>
          <p:cNvSpPr/>
          <p:nvPr/>
        </p:nvSpPr>
        <p:spPr>
          <a:xfrm>
            <a:off x="548640" y="1371600"/>
            <a:ext cx="804672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301F">
                <a:alpha val="12000"/>
              </a:srgbClr>
            </a:outerShdw>
          </a:effectLst>
        </p:spPr>
      </p:sp>
      <p:sp>
        <p:nvSpPr>
          <p:cNvPr id="4" name="track-icon-bg-1"/>
          <p:cNvSpPr/>
          <p:nvPr/>
        </p:nvSpPr>
        <p:spPr>
          <a:xfrm>
            <a:off x="777240" y="1554480"/>
            <a:ext cx="457200" cy="457200"/>
          </a:xfrm>
          <a:prstGeom prst="ellipse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pic>
        <p:nvPicPr>
          <p:cNvPr id="5" name="Image 0" descr="Community Kitch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91640"/>
            <a:ext cx="182880" cy="182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48132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Kitchen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3931920" y="1481328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Food-rescue coordination with safety by design</a:t>
            </a:r>
            <a:endParaRPr lang="en-US" sz="1400" dirty="0"/>
          </a:p>
        </p:txBody>
      </p:sp>
      <p:sp>
        <p:nvSpPr>
          <p:cNvPr id="8" name="track-row-2"/>
          <p:cNvSpPr/>
          <p:nvPr/>
        </p:nvSpPr>
        <p:spPr>
          <a:xfrm>
            <a:off x="548640" y="2331720"/>
            <a:ext cx="804672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301F">
                <a:alpha val="12000"/>
              </a:srgbClr>
            </a:outerShdw>
          </a:effectLst>
        </p:spPr>
      </p:sp>
      <p:sp>
        <p:nvSpPr>
          <p:cNvPr id="9" name="track-icon-bg-2"/>
          <p:cNvSpPr/>
          <p:nvPr/>
        </p:nvSpPr>
        <p:spPr>
          <a:xfrm>
            <a:off x="777240" y="2514600"/>
            <a:ext cx="457200" cy="457200"/>
          </a:xfrm>
          <a:prstGeom prst="ellipse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pic>
        <p:nvPicPr>
          <p:cNvPr id="10" name="Image 1" descr="Phot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51760"/>
            <a:ext cx="182880" cy="1828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44144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Photon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931920" y="2441448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Time-limited offers and claims over iMessage</a:t>
            </a:r>
            <a:endParaRPr lang="en-US" sz="1400" dirty="0"/>
          </a:p>
        </p:txBody>
      </p:sp>
      <p:sp>
        <p:nvSpPr>
          <p:cNvPr id="13" name="track-row-3"/>
          <p:cNvSpPr/>
          <p:nvPr/>
        </p:nvSpPr>
        <p:spPr>
          <a:xfrm>
            <a:off x="548640" y="3291840"/>
            <a:ext cx="804672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7301F">
                <a:alpha val="12000"/>
              </a:srgbClr>
            </a:outerShdw>
          </a:effectLst>
        </p:spPr>
      </p:sp>
      <p:sp>
        <p:nvSpPr>
          <p:cNvPr id="14" name="track-icon-bg-3"/>
          <p:cNvSpPr/>
          <p:nvPr/>
        </p:nvSpPr>
        <p:spPr>
          <a:xfrm>
            <a:off x="777240" y="3474720"/>
            <a:ext cx="457200" cy="457200"/>
          </a:xfrm>
          <a:prstGeom prst="ellipse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pic>
        <p:nvPicPr>
          <p:cNvPr id="15" name="Image 2" descr="Gemini AP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11880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54480" y="340156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API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3931920" y="3401568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Photo to an uncertain, editable draft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nnona leaf 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54864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8288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when it is safe. Stopped when it is not.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2918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Next: partner and food-safety review before any real deployment.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Thank you. Questions?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nona">
  <a:themeElements>
    <a:clrScheme name="Annona">
      <a:dk1>
        <a:srgbClr val="17301F"/>
      </a:dk1>
      <a:lt1>
        <a:srgbClr val="FFFFFF"/>
      </a:lt1>
      <a:dk2>
        <a:srgbClr val="24523A"/>
      </a:dk2>
      <a:lt2>
        <a:srgbClr val="EEF4EC"/>
      </a:lt2>
      <a:accent1>
        <a:srgbClr val="2F7D4F"/>
      </a:accent1>
      <a:accent2>
        <a:srgbClr val="E8833A"/>
      </a:accent2>
      <a:accent3>
        <a:srgbClr val="8DBF7A"/>
      </a:accent3>
      <a:accent4>
        <a:srgbClr val="B5413B"/>
      </a:accent4>
      <a:accent5>
        <a:srgbClr val="5E7A68"/>
      </a:accent5>
      <a:accent6>
        <a:srgbClr val="F3C969"/>
      </a:accent6>
      <a:hlink>
        <a:srgbClr val="2F7D4F"/>
      </a:hlink>
      <a:folHlink>
        <a:srgbClr val="5E7A68"/>
      </a:folHlink>
    </a:clrScheme>
    <a:fontScheme name="Annon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Annona live demo</dc:title>
  <dc:subject>PptxGenJS Presentation</dc:subject>
  <dc:creator>Annona team</dc:creator>
  <cp:lastModifiedBy>Annona team</cp:lastModifiedBy>
  <cp:revision>1</cp:revision>
  <dcterms:created xsi:type="dcterms:W3CDTF">2026-10-18T06:39:48Z</dcterms:created>
  <dcterms:modified xsi:type="dcterms:W3CDTF">2026-10-18T06:39:48Z</dcterms:modified>
</cp:coreProperties>
</file>